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01" r:id="rId4"/>
  </p:sldMasterIdLst>
  <p:notesMasterIdLst>
    <p:notesMasterId r:id="rId21"/>
  </p:notesMasterIdLst>
  <p:handoutMasterIdLst>
    <p:handoutMasterId r:id="rId22"/>
  </p:handoutMasterIdLst>
  <p:sldIdLst>
    <p:sldId id="261" r:id="rId5"/>
    <p:sldId id="269" r:id="rId6"/>
    <p:sldId id="272" r:id="rId7"/>
    <p:sldId id="273" r:id="rId8"/>
    <p:sldId id="278" r:id="rId9"/>
    <p:sldId id="277" r:id="rId10"/>
    <p:sldId id="274" r:id="rId11"/>
    <p:sldId id="279" r:id="rId12"/>
    <p:sldId id="280" r:id="rId13"/>
    <p:sldId id="281" r:id="rId14"/>
    <p:sldId id="282" r:id="rId15"/>
    <p:sldId id="283" r:id="rId16"/>
    <p:sldId id="284" r:id="rId17"/>
    <p:sldId id="287" r:id="rId18"/>
    <p:sldId id="276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0505"/>
    <a:srgbClr val="88B7DE"/>
    <a:srgbClr val="000000"/>
    <a:srgbClr val="3E88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580"/>
  </p:normalViewPr>
  <p:slideViewPr>
    <p:cSldViewPr snapToGrid="0" snapToObjects="1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302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>
            <a:extLst>
              <a:ext uri="{FF2B5EF4-FFF2-40B4-BE49-F238E27FC236}">
                <a16:creationId xmlns:a16="http://schemas.microsoft.com/office/drawing/2014/main" id="{AB75B279-B5EC-4B23-8F11-0F7BE30BCB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 dirty="0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834B4F15-5A67-4D67-8B42-09B1485BBD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C19FE-7011-4CB0-AB8A-6B7E97A0B271}" type="datetimeFigureOut">
              <a:rPr lang="uk-UA" smtClean="0"/>
              <a:t>20.06.2025</a:t>
            </a:fld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4F78254-EC9E-4C8A-A134-B6E8A6495B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76B0134-1486-4F2F-A030-A451073018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3578E-25B4-4F1B-BE2F-82FEB409F674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7178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 dirty="0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F3B2D-7C6E-4C35-A3F5-33F129479BA5}" type="datetimeFigureOut">
              <a:rPr lang="uk-UA" smtClean="0"/>
              <a:t>20.06.2025</a:t>
            </a:fld>
            <a:endParaRPr lang="uk-UA" dirty="0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 dirty="0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 dirty="0"/>
              <a:t>Зразок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 dirty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E3AE4-A225-4056-8C6D-77EB84419DED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7262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E3AE4-A225-4056-8C6D-77EB84419DED}" type="slidenum">
              <a:rPr lang="uk-UA" smtClean="0"/>
              <a:t>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70315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DCA3E8F-77F1-40D2-BE43-31380CEE9249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5018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447790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773440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05687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6B32DB0-EBF1-4B56-A76D-BACA27FE3382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14381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F2F50DE-63D1-4998-966B-4A7E6A304007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9980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942988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727720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295880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817059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4B7E75F-B5AD-485C-B165-716F5B473DDE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8720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242AFD7-5690-415B-B032-6FAAE2363BEA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23900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 цита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1962771-5EF7-4E44-9D08-EC760CFD7E23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1727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Істина/хибні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7718958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0D882B7-5991-4CC7-B7E0-2098A263BD0C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27109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5053209-07B9-42F0-97A1-FDC4AC0D3728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0676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E9B20D7-A2EB-4C70-9CE2-D350F555FC01}" type="datetime1">
              <a:rPr lang="uk-UA" smtClean="0"/>
              <a:t>20.06.2025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0552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Зображення 12" descr="світлові точки">
            <a:extLst>
              <a:ext uri="{FF2B5EF4-FFF2-40B4-BE49-F238E27FC236}">
                <a16:creationId xmlns:a16="http://schemas.microsoft.com/office/drawing/2014/main" id="{91359E98-53EA-154C-9838-95AAA23C9E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4079" y="-9254"/>
            <a:ext cx="12191980" cy="6857990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812" y="201325"/>
            <a:ext cx="8911687" cy="1280890"/>
          </a:xfrm>
        </p:spPr>
        <p:txBody>
          <a:bodyPr rtlCol="0">
            <a:noAutofit/>
          </a:bodyPr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Book Antiqua" panose="02040602050305030304" pitchFamily="18" charset="0"/>
              </a:rPr>
              <a:t>MODELING, CONTROL AND OPTIMIZATION OF SYSTEMS - DISCRETE SINGULARITIES METHODS IN MATHEMATICAL PHYSICS</a:t>
            </a:r>
            <a:br>
              <a:rPr lang="en-US" sz="2200" b="1" dirty="0">
                <a:solidFill>
                  <a:schemeClr val="tx1"/>
                </a:solidFill>
                <a:latin typeface="Book Antiqua" panose="02040602050305030304" pitchFamily="18" charset="0"/>
              </a:rPr>
            </a:br>
            <a:r>
              <a:rPr lang="en-US" sz="2200" b="1" dirty="0">
                <a:solidFill>
                  <a:schemeClr val="tx1"/>
                </a:solidFill>
                <a:latin typeface="Book Antiqua" panose="02040602050305030304" pitchFamily="18" charset="0"/>
              </a:rPr>
              <a:t>MCOS-DSMMPh-2025</a:t>
            </a:r>
            <a:endParaRPr sz="2200" dirty="0"/>
          </a:p>
        </p:txBody>
      </p:sp>
      <p:pic>
        <p:nvPicPr>
          <p:cNvPr id="11" name="Місце для вмісту 10">
            <a:extLst>
              <a:ext uri="{FF2B5EF4-FFF2-40B4-BE49-F238E27FC236}">
                <a16:creationId xmlns:a16="http://schemas.microsoft.com/office/drawing/2014/main" id="{FC54E44C-8584-4274-AC52-EB54BC8AC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5958" r="5402" b="1892"/>
          <a:stretch/>
        </p:blipFill>
        <p:spPr>
          <a:xfrm>
            <a:off x="1533720" y="2398674"/>
            <a:ext cx="4405697" cy="32299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7" name="Google Shape;163;p1">
            <a:extLst>
              <a:ext uri="{FF2B5EF4-FFF2-40B4-BE49-F238E27FC236}">
                <a16:creationId xmlns:a16="http://schemas.microsoft.com/office/drawing/2014/main" id="{89A5ECBF-82A6-4F9C-9EFD-785D622BB8F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1089" y="4695794"/>
            <a:ext cx="1285875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162;p1">
            <a:extLst>
              <a:ext uri="{FF2B5EF4-FFF2-40B4-BE49-F238E27FC236}">
                <a16:creationId xmlns:a16="http://schemas.microsoft.com/office/drawing/2014/main" id="{E1D7695D-08D5-4BAB-9973-EB7181C1E3A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7943" y="1645139"/>
            <a:ext cx="1078344" cy="105349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6426542E-B2E3-468A-BFAF-4BF1AE0DD04B}"/>
              </a:ext>
            </a:extLst>
          </p:cNvPr>
          <p:cNvSpPr txBox="1"/>
          <p:nvPr/>
        </p:nvSpPr>
        <p:spPr>
          <a:xfrm>
            <a:off x="4061970" y="6338119"/>
            <a:ext cx="40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111111"/>
                </a:solidFill>
                <a:effectLst/>
                <a:latin typeface="Book Antiqua" panose="02040602050305030304" pitchFamily="18" charset="0"/>
              </a:rPr>
              <a:t>June 26-30, 2025, Kyiv, Ukraine</a:t>
            </a:r>
            <a:endParaRPr lang="uk-UA" dirty="0">
              <a:latin typeface="Book Antiqua" panose="02040602050305030304" pitchFamily="18" charset="0"/>
            </a:endParaRPr>
          </a:p>
        </p:txBody>
      </p:sp>
      <p:grpSp>
        <p:nvGrpSpPr>
          <p:cNvPr id="3" name="Google Shape;155;p1">
            <a:extLst>
              <a:ext uri="{FF2B5EF4-FFF2-40B4-BE49-F238E27FC236}">
                <a16:creationId xmlns:a16="http://schemas.microsoft.com/office/drawing/2014/main" id="{5993849B-F83B-0A4A-805B-E19B2DE4CCC5}"/>
              </a:ext>
            </a:extLst>
          </p:cNvPr>
          <p:cNvGrpSpPr/>
          <p:nvPr/>
        </p:nvGrpSpPr>
        <p:grpSpPr>
          <a:xfrm>
            <a:off x="6127379" y="2502207"/>
            <a:ext cx="6000522" cy="2940056"/>
            <a:chOff x="0" y="3808320"/>
            <a:chExt cx="7833208" cy="2547440"/>
          </a:xfrm>
        </p:grpSpPr>
        <p:sp>
          <p:nvSpPr>
            <p:cNvPr id="4" name="Google Shape;156;p1">
              <a:extLst>
                <a:ext uri="{FF2B5EF4-FFF2-40B4-BE49-F238E27FC236}">
                  <a16:creationId xmlns:a16="http://schemas.microsoft.com/office/drawing/2014/main" id="{55F7A787-5D18-5C6F-7B1C-AC7352A4E850}"/>
                </a:ext>
              </a:extLst>
            </p:cNvPr>
            <p:cNvSpPr/>
            <p:nvPr/>
          </p:nvSpPr>
          <p:spPr>
            <a:xfrm>
              <a:off x="0" y="3808320"/>
              <a:ext cx="7833208" cy="2547440"/>
            </a:xfrm>
            <a:custGeom>
              <a:avLst/>
              <a:gdLst/>
              <a:ahLst/>
              <a:cxnLst/>
              <a:rect l="l" t="t" r="r" b="b"/>
              <a:pathLst>
                <a:path w="7833208" h="2547440" extrusionOk="0">
                  <a:moveTo>
                    <a:pt x="0" y="0"/>
                  </a:moveTo>
                  <a:lnTo>
                    <a:pt x="7833208" y="0"/>
                  </a:lnTo>
                  <a:lnTo>
                    <a:pt x="7135846" y="2547440"/>
                  </a:lnTo>
                  <a:lnTo>
                    <a:pt x="0" y="254744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" name="Google Shape;157;p1">
              <a:extLst>
                <a:ext uri="{FF2B5EF4-FFF2-40B4-BE49-F238E27FC236}">
                  <a16:creationId xmlns:a16="http://schemas.microsoft.com/office/drawing/2014/main" id="{6D502ADF-1E12-7F01-9829-1E1D7F0E10FA}"/>
                </a:ext>
              </a:extLst>
            </p:cNvPr>
            <p:cNvSpPr/>
            <p:nvPr/>
          </p:nvSpPr>
          <p:spPr>
            <a:xfrm>
              <a:off x="0" y="3808320"/>
              <a:ext cx="7692302" cy="2547440"/>
            </a:xfrm>
            <a:custGeom>
              <a:avLst/>
              <a:gdLst/>
              <a:ahLst/>
              <a:cxnLst/>
              <a:rect l="l" t="t" r="r" b="b"/>
              <a:pathLst>
                <a:path w="7692571" h="2547440" extrusionOk="0">
                  <a:moveTo>
                    <a:pt x="0" y="0"/>
                  </a:moveTo>
                  <a:lnTo>
                    <a:pt x="7692571" y="0"/>
                  </a:lnTo>
                  <a:lnTo>
                    <a:pt x="6995209" y="2547440"/>
                  </a:lnTo>
                  <a:lnTo>
                    <a:pt x="0" y="254744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D0505">
                    <a:shade val="30000"/>
                    <a:satMod val="115000"/>
                  </a:srgbClr>
                </a:gs>
                <a:gs pos="50000">
                  <a:srgbClr val="9D0505">
                    <a:shade val="67500"/>
                    <a:satMod val="115000"/>
                  </a:srgbClr>
                </a:gs>
                <a:gs pos="100000">
                  <a:srgbClr val="9D0505">
                    <a:shade val="100000"/>
                    <a:satMod val="115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softEdge rad="31750"/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9" name="Google Shape;164;p1" descr="title">
            <a:extLst>
              <a:ext uri="{FF2B5EF4-FFF2-40B4-BE49-F238E27FC236}">
                <a16:creationId xmlns:a16="http://schemas.microsoft.com/office/drawing/2014/main" id="{B14123EB-5C92-737D-C4C2-49225D825D5F}"/>
              </a:ext>
            </a:extLst>
          </p:cNvPr>
          <p:cNvSpPr txBox="1"/>
          <p:nvPr/>
        </p:nvSpPr>
        <p:spPr>
          <a:xfrm>
            <a:off x="6191479" y="2735700"/>
            <a:ext cx="5519451" cy="224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AUTOMATIC IDENTIFICATION OF MUSICAL INSTRUMENTS</a:t>
            </a:r>
            <a:endParaRPr lang="en-US" sz="2800" b="1" i="1" dirty="0">
              <a:solidFill>
                <a:schemeClr val="bg1"/>
              </a:solidFill>
              <a:effectLst/>
              <a:latin typeface="Corbel"/>
              <a:ea typeface="Times New Roman" panose="02020603050405020304" pitchFamily="18" charset="0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1" i="1" dirty="0">
                <a:solidFill>
                  <a:schemeClr val="bg1"/>
                </a:solidFill>
                <a:latin typeface="Corbel"/>
                <a:sym typeface="Corbel"/>
              </a:rPr>
              <a:t>       </a:t>
            </a:r>
            <a:r>
              <a:rPr lang="en-US" sz="1600" dirty="0">
                <a:solidFill>
                  <a:schemeClr val="bg1"/>
                </a:solidFill>
              </a:rPr>
              <a:t>Volodymyr Kuz, Andrii Shatyrko</a:t>
            </a:r>
          </a:p>
          <a:p>
            <a:pPr algn="ctr">
              <a:buNone/>
            </a:pPr>
            <a:r>
              <a:rPr lang="en" sz="1200" b="0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Taras Shevchenko National University of Kyiv,  Ukraine</a:t>
            </a:r>
          </a:p>
          <a:p>
            <a:pPr algn="ctr">
              <a:buNone/>
            </a:pPr>
            <a:r>
              <a:rPr lang="en" sz="1200" b="0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University of L’Aquila, Italy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i="1" dirty="0">
                <a:solidFill>
                  <a:schemeClr val="bg1"/>
                </a:solidFill>
                <a:latin typeface="Corbel"/>
                <a:ea typeface="Corbel"/>
                <a:cs typeface="Corbel"/>
                <a:sym typeface="Corbel"/>
              </a:rPr>
              <a:t>              </a:t>
            </a:r>
            <a:br>
              <a:rPr lang="en-US" sz="2800" i="1" dirty="0">
                <a:solidFill>
                  <a:schemeClr val="bg1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2800" i="1" dirty="0">
              <a:solidFill>
                <a:schemeClr val="bg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436557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9142B5-7C5E-4501-8DB6-3EBA5C19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Вступ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3DD469B-B8BD-4163-BA92-BEBEF242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76400"/>
            <a:ext cx="8915400" cy="3777622"/>
          </a:xfrm>
        </p:spPr>
        <p:txBody>
          <a:bodyPr/>
          <a:lstStyle/>
          <a:p>
            <a:pPr algn="just">
              <a:buNone/>
            </a:pPr>
            <a:r>
              <a:rPr lang="uk-UA" dirty="0"/>
              <a:t>    </a:t>
            </a:r>
            <a:r>
              <a:rPr lang="uk-UA" sz="2000" dirty="0">
                <a:latin typeface="Cambria" panose="02040503050406030204" pitchFamily="18" charset="0"/>
                <a:ea typeface="Cambria" panose="02040503050406030204" pitchFamily="18" charset="0"/>
              </a:rPr>
              <a:t> Метою цього дослідження було з’ясувати, чи можуть традиційні методи спектрального аналізу в поєднанні з машинним навчанням забезпечити надійну класифікацію музичних інструментів.</a:t>
            </a:r>
          </a:p>
          <a:p>
            <a:pPr algn="just">
              <a:buNone/>
            </a:pPr>
            <a:r>
              <a:rPr lang="uk-UA" sz="2000" dirty="0">
                <a:latin typeface="Cambria" panose="02040503050406030204" pitchFamily="18" charset="0"/>
                <a:ea typeface="Cambria" panose="02040503050406030204" pitchFamily="18" charset="0"/>
              </a:rPr>
              <a:t>   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k-UA" sz="2000" dirty="0">
                <a:latin typeface="Cambria" panose="02040503050406030204" pitchFamily="18" charset="0"/>
                <a:ea typeface="Cambria" panose="02040503050406030204" pitchFamily="18" charset="0"/>
              </a:rPr>
              <a:t>Ми очікували, що навіть за використання простих моделей ретельне виділення ознак призведе до високої точності розпізнавання соло-інструментів — </a:t>
            </a:r>
            <a:r>
              <a:rPr 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що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відіграє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важливу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 роль у </a:t>
            </a:r>
            <a:r>
              <a:rPr 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класифікації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музики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пошуку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композицій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 та автоматичному </a:t>
            </a:r>
            <a:r>
              <a:rPr 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додаванні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описів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uk-UA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uk-UA" sz="2000" b="1" dirty="0">
                <a:latin typeface="Cambria" panose="02040503050406030204" pitchFamily="18" charset="0"/>
                <a:ea typeface="Cambria" panose="02040503050406030204" pitchFamily="18" charset="0"/>
              </a:rPr>
              <a:t>Постановка задачі:</a:t>
            </a:r>
            <a:br>
              <a:rPr lang="uk-UA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uk-UA" sz="2000" dirty="0">
                <a:latin typeface="Cambria" panose="02040503050406030204" pitchFamily="18" charset="0"/>
                <a:ea typeface="Cambria" panose="02040503050406030204" pitchFamily="18" charset="0"/>
              </a:rPr>
              <a:t>Маючи музичний твір, необхідно розробити програму, яка зможе класифікувати музичні інструменти, що в ньому звучать.</a:t>
            </a:r>
          </a:p>
        </p:txBody>
      </p:sp>
    </p:spTree>
    <p:extLst>
      <p:ext uri="{BB962C8B-B14F-4D97-AF65-F5344CB8AC3E}">
        <p14:creationId xmlns:p14="http://schemas.microsoft.com/office/powerpoint/2010/main" val="437998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Попередня обробка даних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463282" y="1530221"/>
                <a:ext cx="8770775" cy="4956202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uk-UA" dirty="0">
                    <a:latin typeface="Cambria" panose="02040503050406030204" pitchFamily="18" charset="0"/>
                    <a:ea typeface="Cambria" panose="02040503050406030204" pitchFamily="18" charset="0"/>
                  </a:rPr>
                  <a:t>Ми почали з підготовки набору даних, що складається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uk-UA" dirty="0">
                    <a:latin typeface="Cambria" panose="02040503050406030204" pitchFamily="18" charset="0"/>
                    <a:ea typeface="Cambria" panose="02040503050406030204" pitchFamily="18" charset="0"/>
                  </a:rPr>
                  <a:t>коротких </a:t>
                </a:r>
                <a:r>
                  <a:rPr lang="uk-UA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аудіофрагментів</a:t>
                </a:r>
                <a:r>
                  <a:rPr lang="uk-UA" dirty="0">
                    <a:latin typeface="Cambria" panose="02040503050406030204" pitchFamily="18" charset="0"/>
                    <a:ea typeface="Cambria" panose="02040503050406030204" pitchFamily="18" charset="0"/>
                  </a:rPr>
                  <a:t>. Кожен запис містить лише один музичний інструмент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uk-UA" dirty="0">
                    <a:latin typeface="Cambria" panose="02040503050406030204" pitchFamily="18" charset="0"/>
                    <a:ea typeface="Cambria" panose="02040503050406030204" pitchFamily="18" charset="0"/>
                  </a:rPr>
                  <a:t>— віолончель, саксофон, скрипку, флейту, трубу або гобой.</a:t>
                </a:r>
              </a:p>
              <a:p>
                <a:pPr marL="0" indent="0" algn="just">
                  <a:buNone/>
                </a:pPr>
                <a:r>
                  <a:rPr lang="uk-UA" dirty="0">
                    <a:latin typeface="Cambria" panose="02040503050406030204" pitchFamily="18" charset="0"/>
                    <a:ea typeface="Cambria" panose="02040503050406030204" pitchFamily="18" charset="0"/>
                  </a:rPr>
                  <a:t>Далі ми застосували методи попередньої обробки сигналу за допомогою Швидкого перетворення Фур’є (</a:t>
                </a:r>
                <a:r>
                  <a:rPr lang="af-ZA" dirty="0">
                    <a:latin typeface="Cambria" panose="02040503050406030204" pitchFamily="18" charset="0"/>
                    <a:ea typeface="Cambria" panose="02040503050406030204" pitchFamily="18" charset="0"/>
                  </a:rPr>
                  <a:t>FFT), </a:t>
                </a:r>
                <a:r>
                  <a:rPr lang="uk-UA" dirty="0">
                    <a:latin typeface="Cambria" panose="02040503050406030204" pitchFamily="18" charset="0"/>
                    <a:ea typeface="Cambria" panose="02040503050406030204" pitchFamily="18" charset="0"/>
                  </a:rPr>
                  <a:t>і з кожного </a:t>
                </a:r>
                <a:r>
                  <a:rPr lang="uk-UA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аудіофайлу</a:t>
                </a:r>
                <a:r>
                  <a:rPr lang="uk-UA" dirty="0">
                    <a:latin typeface="Cambria" panose="02040503050406030204" pitchFamily="18" charset="0"/>
                    <a:ea typeface="Cambria" panose="02040503050406030204" pitchFamily="18" charset="0"/>
                  </a:rPr>
                  <a:t> було виділено набір спектральних ознак, зокрема: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br>
                  <a:rPr lang="en-US" sz="17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</a:br>
                <a:r>
                  <a:rPr lang="en-US" sz="17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- </a:t>
                </a:r>
                <a:r>
                  <a:rPr lang="uk-UA" sz="17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С</a:t>
                </a:r>
                <a14:m>
                  <m:oMath xmlns:m="http://schemas.openxmlformats.org/officeDocument/2006/math">
                    <m:r>
                      <a:rPr lang="uk-UA" sz="1700" b="0" i="0" smtClean="0">
                        <a:effectLst/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пектральний центроїд  </m:t>
                    </m:r>
                    <m:sSub>
                      <m:sSubPr>
                        <m:ctrlPr>
                          <a:rPr lang="uk-UA" sz="1700" i="1" smtClean="0"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k-UA" sz="1700" i="1"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uk-UA" sz="1700" i="1"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uk-UA" sz="1700" i="1">
                        <a:effectLst/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uk-UA" sz="1700" i="1"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grow m:val="on"/>
                            <m:supHide m:val="on"/>
                            <m:ctrlPr>
                              <a:rPr lang="uk-UA" sz="17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uk-UA" sz="17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r>
                              <a:rPr lang="uk-UA" sz="17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uk-UA" sz="17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uk-UA" sz="17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uk-UA" sz="17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uk-UA" sz="17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uk-UA" sz="17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grow m:val="on"/>
                            <m:supHide m:val="on"/>
                            <m:ctrlPr>
                              <a:rPr lang="uk-UA" sz="17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uk-UA" sz="17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r>
                              <a:rPr lang="uk-UA" sz="17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uk-UA" sz="17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uk-UA" sz="17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nary>
                      </m:den>
                    </m:f>
                  </m:oMath>
                </a14:m>
                <a:br>
                  <a:rPr lang="en-US" sz="17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</a:br>
                <a:r>
                  <a:rPr lang="en-US" sz="17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- </a:t>
                </a:r>
                <a:r>
                  <a:rPr lang="uk-UA" sz="17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С</a:t>
                </a:r>
                <a14:m>
                  <m:oMath xmlns:m="http://schemas.openxmlformats.org/officeDocument/2006/math">
                    <m:r>
                      <a:rPr lang="uk-UA" sz="1700" b="0" i="0" smtClean="0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пектральна шири</m:t>
                    </m:r>
                    <m:r>
                      <a:rPr lang="uk-UA" sz="1700" b="0" i="1" smtClean="0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на смуги  </m:t>
                    </m:r>
                    <m:r>
                      <a:rPr lang="en-US" sz="1700" i="1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𝑆</m:t>
                    </m:r>
                    <m:sSub>
                      <m:sSubPr>
                        <m:ctrlPr>
                          <a:rPr lang="uk-UA" sz="17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ru-RU" sz="1700" i="1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=(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uk-UA" sz="17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7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sz="17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ru-RU" sz="17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7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ru-RU" sz="17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uk-UA" sz="1700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uk-UA" sz="17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17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7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ru-RU" sz="17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7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ru-RU" sz="17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sSub>
                                  <m:sSubPr>
                                    <m:ctrlPr>
                                      <a:rPr lang="uk-UA" sz="1700" i="1"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i="1"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700" i="1"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ru-RU" sz="17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7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a:rPr lang="ru-RU" sz="1700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ctrlPr>
                                  <a:rPr lang="uk-UA" sz="17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7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7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den>
                            </m:f>
                          </m:sup>
                        </m:sSup>
                      </m:e>
                    </m:nary>
                  </m:oMath>
                </a14:m>
                <a:br>
                  <a:rPr lang="en-US" sz="17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</a:br>
                <a:r>
                  <a:rPr lang="en-US" sz="17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- </a:t>
                </a:r>
                <a:r>
                  <a:rPr lang="uk-UA" sz="1700" dirty="0"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Кількість перетинів нуля</a:t>
                </a:r>
                <a14:m>
                  <m:oMath xmlns:m="http://schemas.openxmlformats.org/officeDocument/2006/math">
                    <m:r>
                      <a:rPr lang="uk-UA" sz="17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uk-UA" sz="1700" i="1">
                        <a:latin typeface="Cambria Math" panose="02040503050406030204" pitchFamily="18" charset="0"/>
                      </a:rPr>
                      <m:t>𝑍𝐶𝑅</m:t>
                    </m:r>
                    <m:r>
                      <a:rPr lang="uk-UA" sz="1700" i="1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uk-UA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uk-UA" sz="17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uk-UA" sz="17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uk-UA" sz="1700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uk-UA" sz="17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uk-UA" sz="17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uk-UA" sz="17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uk-UA" sz="17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uk-UA" sz="17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uk-UA" sz="1700" i="1">
                            <a:latin typeface="Cambria Math" panose="02040503050406030204" pitchFamily="18" charset="0"/>
                          </a:rPr>
                          <m:t>𝐼𝐼</m:t>
                        </m:r>
                        <m:r>
                          <a:rPr lang="uk-UA" sz="17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uk-UA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sz="17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uk-UA" sz="17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uk-UA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sz="17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uk-UA" sz="17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uk-UA" sz="17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uk-UA" sz="1700" i="1">
                            <a:latin typeface="Cambria Math" panose="02040503050406030204" pitchFamily="18" charset="0"/>
                          </a:rPr>
                          <m:t>&lt;0}</m:t>
                        </m:r>
                      </m:e>
                    </m:nary>
                  </m:oMath>
                </a14:m>
                <a:br>
                  <a:rPr lang="en-US" sz="17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</a:br>
                <a:r>
                  <a:rPr lang="en-US" sz="17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- </a:t>
                </a:r>
                <a:r>
                  <a:rPr lang="uk-UA" sz="17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С</a:t>
                </a:r>
                <a14:m>
                  <m:oMath xmlns:m="http://schemas.openxmlformats.org/officeDocument/2006/math">
                    <m:r>
                      <a:rPr lang="uk-UA" sz="1700" b="0" i="0" smtClean="0">
                        <a:latin typeface="Cambria Math" panose="02040503050406030204" pitchFamily="18" charset="0"/>
                      </a:rPr>
                      <m:t>пектрал</m:t>
                    </m:r>
                    <m:r>
                      <a:rPr lang="uk-UA" sz="1700" b="0" i="1" smtClean="0">
                        <a:latin typeface="Cambria Math" panose="02040503050406030204" pitchFamily="18" charset="0"/>
                      </a:rPr>
                      <m:t>ьний контраст 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𝑃𝑒𝑎</m:t>
                    </m:r>
                    <m:sSub>
                      <m:sSubPr>
                        <m:ctrlPr>
                          <a:rPr lang="uk-UA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7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70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uk-UA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uk-UA" sz="17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uk-UA" sz="17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uk-UA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sz="17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uk-UA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𝑉𝑎𝑙𝑙𝑒𝑦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uk-UA" sz="17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uk-UA" sz="17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7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uk-UA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uk-UA" sz="17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uk-UA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17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uk-UA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17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7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17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7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7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func>
                  </m:oMath>
                </a14:m>
                <a:r>
                  <a:rPr lang="en-US" sz="1700" dirty="0"/>
                  <a:t>, </a:t>
                </a:r>
                <a:endParaRPr lang="en-US" sz="1700" i="1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uk-UA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7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𝑃𝑒𝑎</m:t>
                    </m:r>
                    <m:sSub>
                      <m:sSubPr>
                        <m:ctrlPr>
                          <a:rPr lang="uk-UA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7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𝑉𝑎𝑙𝑙𝑒</m:t>
                    </m:r>
                    <m:sSub>
                      <m:sSubPr>
                        <m:ctrlPr>
                          <a:rPr lang="uk-UA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700" dirty="0"/>
                  <a:t>. </a:t>
                </a:r>
                <a:br>
                  <a:rPr lang="en-US" sz="17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</a:br>
                <a:r>
                  <a:rPr lang="en-US" sz="17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- </a:t>
                </a:r>
                <a:r>
                  <a:rPr lang="uk-UA" sz="1700" dirty="0" err="1"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Мел</a:t>
                </a:r>
                <a:r>
                  <a:rPr lang="uk-UA" sz="1700" dirty="0"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-частотні </a:t>
                </a:r>
                <a:r>
                  <a:rPr lang="uk-UA" sz="1700" dirty="0" err="1"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кепстральні</a:t>
                </a:r>
                <a:r>
                  <a:rPr lang="uk-UA" sz="1700" dirty="0"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коефіцієнти</a:t>
                </a:r>
                <a:r>
                  <a:rPr lang="en-US" sz="17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(MFCCs)</a:t>
                </a:r>
                <a:endParaRPr sz="17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3282" y="1530221"/>
                <a:ext cx="8770775" cy="4956202"/>
              </a:xfrm>
              <a:blipFill>
                <a:blip r:embed="rId2"/>
                <a:stretch>
                  <a:fillRect l="-556" t="-1230" r="-625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11">
            <a:extLst>
              <a:ext uri="{FF2B5EF4-FFF2-40B4-BE49-F238E27FC236}">
                <a16:creationId xmlns:a16="http://schemas.microsoft.com/office/drawing/2014/main" id="{7D67FDA3-7E6E-4CBE-B66D-CB6A07F8B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6006" y="1361873"/>
            <a:ext cx="8672448" cy="40901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147D29-6DBD-4AD1-A9FD-955C2BA1F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936" y="800910"/>
            <a:ext cx="8681316" cy="520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32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Вибір і тренування моделі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Після виділення всіх спектральних ознак, необхідних для навчання моделі, перед нами постає фінальне і, можливо, найцікавіше та найскладніше завдання — застосування алгоритму машинного навчання для тренування моделі на основі набору музичних творів.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1E526E-00BD-466F-B72D-0D5CB2B3075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957" y="2979698"/>
            <a:ext cx="7208252" cy="278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4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4342" y="1147482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Approximate Nearest Neighbor (ANN)</a:t>
            </a:r>
            <a:endParaRPr lang="uk-UA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приблизного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пошуку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найближчого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сусіда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(ANN)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знаходить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такі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точки з набору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даних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відстань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до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яких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лише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трохи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більша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за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відстань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до точно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найближчої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точки — не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більше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ніж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у C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разів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0" indent="0">
              <a:buNone/>
            </a:pP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Перевага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цього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підходу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полягає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тому,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що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реальних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задачах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приблизні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результати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часто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майже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поступаються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точним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але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обчислюються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значно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швидше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Особливо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ефективним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цей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метод є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тоді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коли метрика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відстані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добре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відображає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уявлення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користувача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схожість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об'єктів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У таких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випадках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невеликі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відхилення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відстані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впливають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на результат, і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точність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класифікації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залишається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високою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3">
            <a:extLst>
              <a:ext uri="{FF2B5EF4-FFF2-40B4-BE49-F238E27FC236}">
                <a16:creationId xmlns:a16="http://schemas.microsoft.com/office/drawing/2014/main" id="{7F4435AC-5AC2-4530-A6A4-B529622BD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1341" y="409515"/>
            <a:ext cx="6896642" cy="603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37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83659" y="1075764"/>
                <a:ext cx="8915400" cy="43266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Support Vector Machine (SVM)</a:t>
                </a:r>
                <a:endParaRPr lang="uk-UA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uk-UA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uk-UA" dirty="0">
                    <a:latin typeface="Cambria" panose="02040503050406030204" pitchFamily="18" charset="0"/>
                    <a:ea typeface="Cambria" panose="02040503050406030204" pitchFamily="18" charset="0"/>
                  </a:rPr>
                  <a:t>Метод опорних векторів (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SVM) — </a:t>
                </a:r>
                <a:r>
                  <a:rPr lang="uk-UA" dirty="0">
                    <a:latin typeface="Cambria" panose="02040503050406030204" pitchFamily="18" charset="0"/>
                    <a:ea typeface="Cambria" panose="02040503050406030204" pitchFamily="18" charset="0"/>
                  </a:rPr>
                  <a:t>це алгоритм машинного навчання з учителем, який визначає межу для розділення класів. Серед усіх точок кожного класу найбільш важливими є ті, що знаходяться найближче до межі — їх називають опорними векторами. Відстань між цими точками і роздільною межею називається зазором(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uk-UA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uk-UA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margin).</a:t>
                </a:r>
                <a:r>
                  <a:rPr lang="uk-UA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uk-UA" dirty="0">
                    <a:latin typeface="Cambria" panose="02040503050406030204" pitchFamily="18" charset="0"/>
                    <a:ea typeface="Cambria" panose="02040503050406030204" pitchFamily="18" charset="0"/>
                  </a:rPr>
                  <a:t>Мета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SVM — </a:t>
                </a:r>
                <a:r>
                  <a:rPr lang="uk-UA" dirty="0">
                    <a:latin typeface="Cambria" panose="02040503050406030204" pitchFamily="18" charset="0"/>
                    <a:ea typeface="Cambria" panose="02040503050406030204" pitchFamily="18" charset="0"/>
                  </a:rPr>
                  <a:t>знайти таку межу, яка максимально віддалена від опорних векторів обох класів. Це дозволяє моделі краще працювати з новими, невідомими даними, тобто краще узагальнювати.</a:t>
                </a:r>
              </a:p>
              <a:p>
                <a:pPr marL="0" indent="0" algn="just">
                  <a:buNone/>
                </a:pPr>
                <a:b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𝑜𝑏𝑗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) =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𝑚𝑎𝑥</m:t>
                      </m:r>
                      <m:f>
                        <m:fPr>
                          <m:ctrlPr>
                            <a:rPr lang="uk-UA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uk-UA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uk-UA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𝑚𝑖𝑛</m:t>
                      </m:r>
                      <m:f>
                        <m:fPr>
                          <m:ctrlPr>
                            <a:rPr lang="uk-UA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uk-UA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uk-UA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2 </m:t>
                          </m:r>
                        </m:sup>
                      </m:sSubSup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           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𝑠𝑢𝑏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uk-UA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uk-UA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uk-UA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)≥1</m:t>
                      </m:r>
                    </m:oMath>
                  </m:oMathPara>
                </a14:m>
                <a:endParaRPr lang="uk-UA" sz="1800" dirty="0">
                  <a:effectLst/>
                  <a:ea typeface="Yu Mincho" panose="02020400000000000000" pitchFamily="18" charset="-128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3659" y="1075764"/>
                <a:ext cx="8915400" cy="4326660"/>
              </a:xfrm>
              <a:blipFill>
                <a:blip r:embed="rId2"/>
                <a:stretch>
                  <a:fillRect l="-547" t="-845" r="-547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6268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3">
            <a:extLst>
              <a:ext uri="{FF2B5EF4-FFF2-40B4-BE49-F238E27FC236}">
                <a16:creationId xmlns:a16="http://schemas.microsoft.com/office/drawing/2014/main" id="{BCFF8E61-17B8-49B7-AF7F-E1175A4A5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427" y="394447"/>
            <a:ext cx="7384041" cy="628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09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Обговорення результатів та порівняння методів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lang="uk-UA" dirty="0"/>
              <a:t>Точність </a:t>
            </a:r>
            <a:r>
              <a:rPr lang="af-ZA" dirty="0"/>
              <a:t>ANN: 97,5%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Точність </a:t>
            </a:r>
            <a:r>
              <a:rPr lang="af-ZA" dirty="0"/>
              <a:t>SVM: 97%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Вибір моделі не був критичним — обидві показали високі результати.</a:t>
            </a:r>
          </a:p>
          <a:p>
            <a:pPr marL="0" indent="0">
              <a:buNone/>
            </a:pPr>
            <a:r>
              <a:rPr lang="ru-RU" dirty="0" err="1"/>
              <a:t>Ретельний</a:t>
            </a:r>
            <a:r>
              <a:rPr lang="ru-RU" dirty="0"/>
              <a:t> </a:t>
            </a:r>
            <a:r>
              <a:rPr lang="ru-RU" dirty="0" err="1"/>
              <a:t>вибір</a:t>
            </a:r>
            <a:r>
              <a:rPr lang="ru-RU" dirty="0"/>
              <a:t> </a:t>
            </a:r>
            <a:r>
              <a:rPr lang="ru-RU" dirty="0" err="1"/>
              <a:t>ознак</a:t>
            </a:r>
            <a:r>
              <a:rPr lang="ru-RU" dirty="0"/>
              <a:t> став </a:t>
            </a:r>
            <a:r>
              <a:rPr lang="ru-RU" dirty="0" err="1"/>
              <a:t>головним</a:t>
            </a:r>
            <a:r>
              <a:rPr lang="ru-RU" dirty="0"/>
              <a:t> фактором </a:t>
            </a:r>
            <a:r>
              <a:rPr lang="ru-RU" dirty="0" err="1"/>
              <a:t>високої</a:t>
            </a:r>
            <a:r>
              <a:rPr lang="ru-RU" dirty="0"/>
              <a:t> </a:t>
            </a:r>
            <a:r>
              <a:rPr lang="ru-RU" dirty="0" err="1"/>
              <a:t>точності</a:t>
            </a:r>
            <a:r>
              <a:rPr lang="ru-RU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9253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52F6B-CAF8-E3E7-DCE8-5206F0D8E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AAEA3-2B56-4BFF-383B-24A3B4DCE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611" y="82934"/>
            <a:ext cx="8911687" cy="1280890"/>
          </a:xfrm>
        </p:spPr>
        <p:txBody>
          <a:bodyPr/>
          <a:lstStyle/>
          <a:p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Додаткове тестування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9C58-2B82-1703-1B9B-E6DB1C628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525" y="723378"/>
            <a:ext cx="4370614" cy="4464441"/>
          </a:xfrm>
        </p:spPr>
        <p:txBody>
          <a:bodyPr>
            <a:normAutofit/>
          </a:bodyPr>
          <a:lstStyle/>
          <a:p>
            <a:endParaRPr dirty="0"/>
          </a:p>
          <a:p>
            <a:pPr marL="0" indent="0" algn="just">
              <a:buNone/>
            </a:pP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Модель була протестована на 187 аудіозаписах із </a:t>
            </a:r>
            <a:r>
              <a:rPr lang="uk-UA" dirty="0" err="1">
                <a:latin typeface="Cambria" panose="02040503050406030204" pitchFamily="18" charset="0"/>
                <a:ea typeface="Cambria" panose="02040503050406030204" pitchFamily="18" charset="0"/>
              </a:rPr>
              <a:t>датасету</a:t>
            </a: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af-ZA" dirty="0">
                <a:latin typeface="Cambria" panose="02040503050406030204" pitchFamily="18" charset="0"/>
                <a:ea typeface="Cambria" panose="02040503050406030204" pitchFamily="18" charset="0"/>
              </a:rPr>
              <a:t>URMP. </a:t>
            </a: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Оцінювання проводилось у форматі </a:t>
            </a:r>
            <a:r>
              <a:rPr lang="af-ZA" dirty="0">
                <a:latin typeface="Cambria" panose="02040503050406030204" pitchFamily="18" charset="0"/>
                <a:ea typeface="Cambria" panose="02040503050406030204" pitchFamily="18" charset="0"/>
              </a:rPr>
              <a:t>multi-label classification — </a:t>
            </a: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тобто один файл міг містити кілька інструментів.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Критерій успішного передбачення: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результат вважався правильним, якщо хоча б один інструмент із тих, що насправді присутні в записі, був вгаданий моделлю.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473173-2866-0CC9-0E6D-7EC2F4969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91" y="1184988"/>
            <a:ext cx="6164484" cy="567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300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E5F7-A922-191C-3FEA-2723E8006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2E2B0-2FCC-997C-E9CD-33AEFF2F6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66910"/>
            <a:ext cx="8911687" cy="1280890"/>
          </a:xfrm>
        </p:spPr>
        <p:txBody>
          <a:bodyPr/>
          <a:lstStyle/>
          <a:p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Результати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9BB3E6-2BA7-9F68-EC2B-119684B5C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51" y="1226574"/>
            <a:ext cx="5099575" cy="53090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6CCCDD-BACD-29F6-9212-C30BB4751E44}"/>
              </a:ext>
            </a:extLst>
          </p:cNvPr>
          <p:cNvSpPr txBox="1"/>
          <p:nvPr/>
        </p:nvSpPr>
        <p:spPr>
          <a:xfrm>
            <a:off x="6008914" y="1324946"/>
            <a:ext cx="50198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dirty="0"/>
              <a:t>Модель переважно передбачала інструменти </a:t>
            </a:r>
            <a:r>
              <a:rPr lang="af-ZA" dirty="0"/>
              <a:t>viola </a:t>
            </a:r>
            <a:r>
              <a:rPr lang="uk-UA" dirty="0"/>
              <a:t>і </a:t>
            </a:r>
            <a:r>
              <a:rPr lang="af-ZA" dirty="0"/>
              <a:t>trumpet. </a:t>
            </a:r>
            <a:r>
              <a:rPr lang="uk-UA" dirty="0"/>
              <a:t>Інструменти як-от </a:t>
            </a:r>
            <a:r>
              <a:rPr lang="af-ZA" dirty="0"/>
              <a:t>flute</a:t>
            </a:r>
            <a:r>
              <a:rPr lang="uk-UA" dirty="0"/>
              <a:t> та </a:t>
            </a:r>
            <a:r>
              <a:rPr lang="af-ZA" dirty="0"/>
              <a:t>oboe </a:t>
            </a:r>
            <a:r>
              <a:rPr lang="uk-UA" dirty="0" err="1"/>
              <a:t>рідко</a:t>
            </a:r>
            <a:r>
              <a:rPr lang="uk-UA" dirty="0"/>
              <a:t> з’являлись у передбаченнях</a:t>
            </a:r>
            <a:r>
              <a:rPr lang="en-US" dirty="0"/>
              <a:t>.</a:t>
            </a:r>
          </a:p>
          <a:p>
            <a:pPr algn="just"/>
            <a:r>
              <a:rPr lang="uk-UA" dirty="0"/>
              <a:t>Можливо спектральні ознаки не дають достатньо інформації для диференціації </a:t>
            </a:r>
            <a:r>
              <a:rPr lang="af-ZA" dirty="0"/>
              <a:t>oboe, flut</a:t>
            </a:r>
            <a:r>
              <a:rPr lang="en-US" dirty="0"/>
              <a:t>e.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58167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492B-383B-C541-C43A-37D79941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3763-CCCB-E2C8-FA5E-82C2E2AF3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66910"/>
            <a:ext cx="8911687" cy="1280890"/>
          </a:xfrm>
        </p:spPr>
        <p:txBody>
          <a:bodyPr/>
          <a:lstStyle/>
          <a:p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Результати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SVM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E4049-A657-F17F-8DE8-6A421BEBA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958" y="993371"/>
            <a:ext cx="7233543" cy="569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274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Подальші напрямки розвитку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760375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На основі отриманих результатів можна переходити до складніших практичних задач.</a:t>
            </a:r>
            <a:b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Один із можливих напрямів — розпізнавання військової техніки та озброєння за аудіозаписами з поля бою.</a:t>
            </a:r>
          </a:p>
          <a:p>
            <a:pPr marL="0" indent="0">
              <a:buNone/>
            </a:pP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Проте реалізація такого підходу пов’язана з низкою викликів:</a:t>
            </a:r>
          </a:p>
          <a:p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значний рівень шумів,</a:t>
            </a:r>
          </a:p>
          <a:p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низька якість або пошкодження аудіозаписів,</a:t>
            </a:r>
          </a:p>
          <a:p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обмежений обсяг навчальних даних.</a:t>
            </a:r>
          </a:p>
          <a:p>
            <a:pPr marL="0" indent="0">
              <a:buNone/>
            </a:pP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Для подолання цих проблем необхідно застосовувати:</a:t>
            </a:r>
            <a:b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розділення джерел звуку, фільтрацію шумів та штучне розширення набору даних (</a:t>
            </a:r>
            <a:r>
              <a:rPr lang="af-ZA" dirty="0">
                <a:latin typeface="Cambria" panose="02040503050406030204" pitchFamily="18" charset="0"/>
                <a:ea typeface="Cambria" panose="02040503050406030204" pitchFamily="18" charset="0"/>
              </a:rPr>
              <a:t>data augmentation).</a:t>
            </a:r>
          </a:p>
          <a:p>
            <a:pPr marL="0" indent="0">
              <a:buNone/>
            </a:pP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Такий підхід має великий потенціал для використання в сфері оборони та безпеки.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8C50DC-5588-45DC-9C5D-BFC3FB5BE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096" y="2759148"/>
            <a:ext cx="6456184" cy="669852"/>
          </a:xfrm>
        </p:spPr>
        <p:txBody>
          <a:bodyPr/>
          <a:lstStyle/>
          <a:p>
            <a:pPr algn="ctr"/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Дякую за увагу</a:t>
            </a:r>
          </a:p>
        </p:txBody>
      </p:sp>
    </p:spTree>
    <p:extLst>
      <p:ext uri="{BB962C8B-B14F-4D97-AF65-F5344CB8AC3E}">
        <p14:creationId xmlns:p14="http://schemas.microsoft.com/office/powerpoint/2010/main" val="3285925624"/>
      </p:ext>
    </p:extLst>
  </p:cSld>
  <p:clrMapOvr>
    <a:masterClrMapping/>
  </p:clrMapOvr>
</p:sld>
</file>

<file path=ppt/theme/theme1.xml><?xml version="1.0" encoding="utf-8"?>
<a:theme xmlns:a="http://schemas.openxmlformats.org/drawingml/2006/main" name="Віхоть">
  <a:themeElements>
    <a:clrScheme name="Віхоть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Віхоть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іхоть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B8F5F2-61AB-4CE6-A5E3-F34B87B0EE4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D575CB40-8686-4C48-810A-C2974D3D3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7C3E52-A0B1-49C0-88BD-66B715EE8B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194</TotalTime>
  <Words>728</Words>
  <Application>Microsoft Office PowerPoint</Application>
  <PresentationFormat>Widescreen</PresentationFormat>
  <Paragraphs>50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Yu Mincho</vt:lpstr>
      <vt:lpstr>Arial</vt:lpstr>
      <vt:lpstr>Book Antiqua</vt:lpstr>
      <vt:lpstr>Calibri</vt:lpstr>
      <vt:lpstr>Cambria</vt:lpstr>
      <vt:lpstr>Cambria Math</vt:lpstr>
      <vt:lpstr>Century Gothic</vt:lpstr>
      <vt:lpstr>Corbel</vt:lpstr>
      <vt:lpstr>Wingdings 3</vt:lpstr>
      <vt:lpstr>Віхоть</vt:lpstr>
      <vt:lpstr>MODELING, CONTROL AND OPTIMIZATION OF SYSTEMS - DISCRETE SINGULARITIES METHODS IN MATHEMATICAL PHYSICS MCOS-DSMMPh-2025</vt:lpstr>
      <vt:lpstr>Вступ</vt:lpstr>
      <vt:lpstr>Попередня обробка даних</vt:lpstr>
      <vt:lpstr>PowerPoint Presentation</vt:lpstr>
      <vt:lpstr>PowerPoint Presentation</vt:lpstr>
      <vt:lpstr>Вибір і тренування моделі</vt:lpstr>
      <vt:lpstr>PowerPoint Presentation</vt:lpstr>
      <vt:lpstr>PowerPoint Presentation</vt:lpstr>
      <vt:lpstr>PowerPoint Presentation</vt:lpstr>
      <vt:lpstr>PowerPoint Presentation</vt:lpstr>
      <vt:lpstr>Обговорення результатів та порівняння методів</vt:lpstr>
      <vt:lpstr>Додаткове тестування</vt:lpstr>
      <vt:lpstr>Результати ANN</vt:lpstr>
      <vt:lpstr>Результати SVM</vt:lpstr>
      <vt:lpstr>Подальші напрямки розвитку</vt:lpstr>
      <vt:lpstr>Дякую за увагу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План події, дизайн "Віхоть"</dc:title>
  <dc:creator>Volodymyr Petrivskyi</dc:creator>
  <cp:lastModifiedBy>Вовчик</cp:lastModifiedBy>
  <cp:revision>22</cp:revision>
  <dcterms:created xsi:type="dcterms:W3CDTF">2023-12-10T12:00:44Z</dcterms:created>
  <dcterms:modified xsi:type="dcterms:W3CDTF">2025-06-20T21:54:29Z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