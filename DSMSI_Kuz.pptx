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1" r:id="rId4"/>
  </p:sldMasterIdLst>
  <p:notesMasterIdLst>
    <p:notesMasterId r:id="rId18"/>
  </p:notesMasterIdLst>
  <p:handoutMasterIdLst>
    <p:handoutMasterId r:id="rId19"/>
  </p:handoutMasterIdLst>
  <p:sldIdLst>
    <p:sldId id="261" r:id="rId5"/>
    <p:sldId id="269" r:id="rId6"/>
    <p:sldId id="272" r:id="rId7"/>
    <p:sldId id="273" r:id="rId8"/>
    <p:sldId id="278" r:id="rId9"/>
    <p:sldId id="277" r:id="rId10"/>
    <p:sldId id="274" r:id="rId11"/>
    <p:sldId id="279" r:id="rId12"/>
    <p:sldId id="280" r:id="rId13"/>
    <p:sldId id="281" r:id="rId14"/>
    <p:sldId id="282" r:id="rId15"/>
    <p:sldId id="276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0505"/>
    <a:srgbClr val="88B7DE"/>
    <a:srgbClr val="000000"/>
    <a:srgbClr val="3E88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80"/>
  </p:normalViewPr>
  <p:slideViewPr>
    <p:cSldViewPr snapToGrid="0" snapToObjects="1">
      <p:cViewPr varScale="1">
        <p:scale>
          <a:sx n="85" d="100"/>
          <a:sy n="85" d="100"/>
        </p:scale>
        <p:origin x="5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02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>
            <a:extLst>
              <a:ext uri="{FF2B5EF4-FFF2-40B4-BE49-F238E27FC236}">
                <a16:creationId xmlns:a16="http://schemas.microsoft.com/office/drawing/2014/main" id="{AB75B279-B5EC-4B23-8F11-0F7BE30BCB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34B4F15-5A67-4D67-8B42-09B1485BBD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C19FE-7011-4CB0-AB8A-6B7E97A0B271}" type="datetimeFigureOut">
              <a:rPr lang="uk-UA" smtClean="0"/>
              <a:t>04.05.2025</a:t>
            </a:fld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4F78254-EC9E-4C8A-A134-B6E8A6495B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76B0134-1486-4F2F-A030-A451073018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3578E-25B4-4F1B-BE2F-82FEB409F674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7178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F3B2D-7C6E-4C35-A3F5-33F129479BA5}" type="datetimeFigureOut">
              <a:rPr lang="uk-UA" smtClean="0"/>
              <a:t>04.05.2025</a:t>
            </a:fld>
            <a:endParaRPr lang="uk-UA" dirty="0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 dirty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 dirty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E3AE4-A225-4056-8C6D-77EB84419DED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7262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E3AE4-A225-4056-8C6D-77EB84419DED}" type="slidenum">
              <a:rPr lang="uk-UA" smtClean="0"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70315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DCA3E8F-77F1-40D2-BE43-31380CEE9249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018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447790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773440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05687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6B32DB0-EBF1-4B56-A76D-BACA27FE3382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1438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F2F50DE-63D1-4998-966B-4A7E6A304007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9980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942988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27720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295880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81705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4B7E75F-B5AD-485C-B165-716F5B473DDE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8720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242AFD7-5690-415B-B032-6FAAE2363BEA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2390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1962771-5EF7-4E44-9D08-EC760CFD7E23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1727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771895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0D882B7-5991-4CC7-B7E0-2098A263BD0C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7109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5053209-07B9-42F0-97A1-FDC4AC0D3728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uk-UA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0676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E9B20D7-A2EB-4C70-9CE2-D350F555FC01}" type="datetime1">
              <a:rPr lang="uk-UA" smtClean="0"/>
              <a:t>04.05.2025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rtl="0"/>
            <a:fld id="{D57F1E4F-1CFF-5643-939E-217C01CDF565}" type="slidenum">
              <a:rPr lang="uk-UA" smtClean="0"/>
              <a:pPr rtl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0552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Зображення 12" descr="світлові точки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719" y="-9254"/>
            <a:ext cx="12191980" cy="685799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812" y="201325"/>
            <a:ext cx="8911687" cy="1280890"/>
          </a:xfrm>
        </p:spPr>
        <p:txBody>
          <a:bodyPr rtlCol="0">
            <a:noAutofit/>
          </a:bodyPr>
          <a:lstStyle/>
          <a:p>
            <a:pPr algn="ctr"/>
            <a:r>
              <a:rPr lang="en-US" sz="24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Dynamical System Modeling and Stability Investigation</a:t>
            </a:r>
            <a:br>
              <a:rPr lang="en-US" sz="24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</a:br>
            <a:r>
              <a:rPr lang="en-US" sz="24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DSMSI-202</a:t>
            </a:r>
            <a:r>
              <a:rPr lang="uk-UA" sz="24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5</a:t>
            </a:r>
            <a:endParaRPr sz="2400" dirty="0"/>
          </a:p>
        </p:txBody>
      </p:sp>
      <p:pic>
        <p:nvPicPr>
          <p:cNvPr id="11" name="Місце для вмісту 10">
            <a:extLst>
              <a:ext uri="{FF2B5EF4-FFF2-40B4-BE49-F238E27FC236}">
                <a16:creationId xmlns:a16="http://schemas.microsoft.com/office/drawing/2014/main" id="{FC54E44C-8584-4274-AC52-EB54BC8AC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5958" r="5402" b="1892"/>
          <a:stretch/>
        </p:blipFill>
        <p:spPr>
          <a:xfrm>
            <a:off x="1533720" y="2398674"/>
            <a:ext cx="4405697" cy="32299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7" name="Google Shape;163;p1">
            <a:extLst>
              <a:ext uri="{FF2B5EF4-FFF2-40B4-BE49-F238E27FC236}">
                <a16:creationId xmlns:a16="http://schemas.microsoft.com/office/drawing/2014/main" id="{89A5ECBF-82A6-4F9C-9EFD-785D622BB8F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089" y="4695794"/>
            <a:ext cx="128587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161;p1">
            <a:extLst>
              <a:ext uri="{FF2B5EF4-FFF2-40B4-BE49-F238E27FC236}">
                <a16:creationId xmlns:a16="http://schemas.microsoft.com/office/drawing/2014/main" id="{E9DC7F27-51DA-4C00-9A8D-851E66B9759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605" y="3410275"/>
            <a:ext cx="762845" cy="74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162;p1">
            <a:extLst>
              <a:ext uri="{FF2B5EF4-FFF2-40B4-BE49-F238E27FC236}">
                <a16:creationId xmlns:a16="http://schemas.microsoft.com/office/drawing/2014/main" id="{E1D7695D-08D5-4BAB-9973-EB7181C1E3A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7943" y="1645139"/>
            <a:ext cx="1078344" cy="10534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6426542E-B2E3-468A-BFAF-4BF1AE0DD04B}"/>
              </a:ext>
            </a:extLst>
          </p:cNvPr>
          <p:cNvSpPr txBox="1"/>
          <p:nvPr/>
        </p:nvSpPr>
        <p:spPr>
          <a:xfrm>
            <a:off x="4061970" y="6338119"/>
            <a:ext cx="4068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111111"/>
                </a:solidFill>
                <a:latin typeface="Book Antiqua" panose="02040602050305030304" pitchFamily="18" charset="0"/>
              </a:rPr>
              <a:t>May</a:t>
            </a:r>
            <a:r>
              <a:rPr lang="en-US" b="1" i="0" dirty="0">
                <a:solidFill>
                  <a:srgbClr val="111111"/>
                </a:solidFill>
                <a:effectLst/>
                <a:latin typeface="Book Antiqua" panose="02040602050305030304" pitchFamily="18" charset="0"/>
              </a:rPr>
              <a:t> 08-10, 2025, Kyiv, Ukraine</a:t>
            </a:r>
            <a:endParaRPr lang="uk-UA" dirty="0">
              <a:latin typeface="Book Antiqua" panose="02040602050305030304" pitchFamily="18" charset="0"/>
            </a:endParaRPr>
          </a:p>
        </p:txBody>
      </p:sp>
      <p:grpSp>
        <p:nvGrpSpPr>
          <p:cNvPr id="14" name="Групувати 13">
            <a:extLst>
              <a:ext uri="{FF2B5EF4-FFF2-40B4-BE49-F238E27FC236}">
                <a16:creationId xmlns:a16="http://schemas.microsoft.com/office/drawing/2014/main" id="{F80B6959-6FE9-4DC1-8E8D-6FA73A2E13FF}"/>
              </a:ext>
            </a:extLst>
          </p:cNvPr>
          <p:cNvGrpSpPr/>
          <p:nvPr/>
        </p:nvGrpSpPr>
        <p:grpSpPr>
          <a:xfrm>
            <a:off x="11025104" y="323887"/>
            <a:ext cx="1010154" cy="870823"/>
            <a:chOff x="6663389" y="2631057"/>
            <a:chExt cx="1911268" cy="1647645"/>
          </a:xfrm>
        </p:grpSpPr>
        <p:sp>
          <p:nvSpPr>
            <p:cNvPr id="15" name="Рівнобедрений трикутник 14">
              <a:extLst>
                <a:ext uri="{FF2B5EF4-FFF2-40B4-BE49-F238E27FC236}">
                  <a16:creationId xmlns:a16="http://schemas.microsoft.com/office/drawing/2014/main" id="{D8D4F624-EE9A-46C9-A418-8ED63D428C58}"/>
                </a:ext>
              </a:extLst>
            </p:cNvPr>
            <p:cNvSpPr/>
            <p:nvPr/>
          </p:nvSpPr>
          <p:spPr>
            <a:xfrm>
              <a:off x="6663389" y="2631057"/>
              <a:ext cx="1911268" cy="1647645"/>
            </a:xfrm>
            <a:prstGeom prst="triangle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6" name="Рівнобедрений трикутник 15">
              <a:extLst>
                <a:ext uri="{FF2B5EF4-FFF2-40B4-BE49-F238E27FC236}">
                  <a16:creationId xmlns:a16="http://schemas.microsoft.com/office/drawing/2014/main" id="{BB9CB05D-5AC4-4CC7-9B81-9D188458A78B}"/>
                </a:ext>
              </a:extLst>
            </p:cNvPr>
            <p:cNvSpPr/>
            <p:nvPr/>
          </p:nvSpPr>
          <p:spPr>
            <a:xfrm rot="10800000">
              <a:off x="6910846" y="3864965"/>
              <a:ext cx="465871" cy="396884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7" name="Рівнобедрений трикутник 16">
              <a:extLst>
                <a:ext uri="{FF2B5EF4-FFF2-40B4-BE49-F238E27FC236}">
                  <a16:creationId xmlns:a16="http://schemas.microsoft.com/office/drawing/2014/main" id="{9F50F3FB-BA77-4479-81A7-1DAC70FD4B30}"/>
                </a:ext>
              </a:extLst>
            </p:cNvPr>
            <p:cNvSpPr/>
            <p:nvPr/>
          </p:nvSpPr>
          <p:spPr>
            <a:xfrm rot="10800000">
              <a:off x="7393296" y="3864965"/>
              <a:ext cx="465871" cy="396884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8" name="Рівнобедрений трикутник 17">
              <a:extLst>
                <a:ext uri="{FF2B5EF4-FFF2-40B4-BE49-F238E27FC236}">
                  <a16:creationId xmlns:a16="http://schemas.microsoft.com/office/drawing/2014/main" id="{11FD9A98-80D8-4496-8E20-DE08E5349BB8}"/>
                </a:ext>
              </a:extLst>
            </p:cNvPr>
            <p:cNvSpPr/>
            <p:nvPr/>
          </p:nvSpPr>
          <p:spPr>
            <a:xfrm rot="10800000">
              <a:off x="7859167" y="3864965"/>
              <a:ext cx="465871" cy="396884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9" name="Рівнобедрений трикутник 18">
              <a:extLst>
                <a:ext uri="{FF2B5EF4-FFF2-40B4-BE49-F238E27FC236}">
                  <a16:creationId xmlns:a16="http://schemas.microsoft.com/office/drawing/2014/main" id="{9D3F85B0-1341-4C2D-ACB1-CEF0758B6FF9}"/>
                </a:ext>
              </a:extLst>
            </p:cNvPr>
            <p:cNvSpPr/>
            <p:nvPr/>
          </p:nvSpPr>
          <p:spPr>
            <a:xfrm rot="10800000">
              <a:off x="7153152" y="3454879"/>
              <a:ext cx="465871" cy="396884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0" name="Рівнобедрений трикутник 19">
              <a:extLst>
                <a:ext uri="{FF2B5EF4-FFF2-40B4-BE49-F238E27FC236}">
                  <a16:creationId xmlns:a16="http://schemas.microsoft.com/office/drawing/2014/main" id="{C0261C32-96F3-4BBD-8FC5-FB7CCF859118}"/>
                </a:ext>
              </a:extLst>
            </p:cNvPr>
            <p:cNvSpPr/>
            <p:nvPr/>
          </p:nvSpPr>
          <p:spPr>
            <a:xfrm rot="10800000">
              <a:off x="7626231" y="3454879"/>
              <a:ext cx="465871" cy="396884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1" name="Рівнобедрений трикутник 20">
              <a:extLst>
                <a:ext uri="{FF2B5EF4-FFF2-40B4-BE49-F238E27FC236}">
                  <a16:creationId xmlns:a16="http://schemas.microsoft.com/office/drawing/2014/main" id="{E6A0152F-8549-434E-B555-FE27A08EAB46}"/>
                </a:ext>
              </a:extLst>
            </p:cNvPr>
            <p:cNvSpPr/>
            <p:nvPr/>
          </p:nvSpPr>
          <p:spPr>
            <a:xfrm rot="10800000">
              <a:off x="7390849" y="3049569"/>
              <a:ext cx="465871" cy="396884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3" name="Google Shape;155;p1">
            <a:extLst>
              <a:ext uri="{FF2B5EF4-FFF2-40B4-BE49-F238E27FC236}">
                <a16:creationId xmlns:a16="http://schemas.microsoft.com/office/drawing/2014/main" id="{5993849B-F83B-0A4A-805B-E19B2DE4CCC5}"/>
              </a:ext>
            </a:extLst>
          </p:cNvPr>
          <p:cNvGrpSpPr/>
          <p:nvPr/>
        </p:nvGrpSpPr>
        <p:grpSpPr>
          <a:xfrm>
            <a:off x="6127379" y="2502207"/>
            <a:ext cx="6000522" cy="2940056"/>
            <a:chOff x="0" y="3808320"/>
            <a:chExt cx="7833208" cy="2547440"/>
          </a:xfrm>
        </p:grpSpPr>
        <p:sp>
          <p:nvSpPr>
            <p:cNvPr id="4" name="Google Shape;156;p1">
              <a:extLst>
                <a:ext uri="{FF2B5EF4-FFF2-40B4-BE49-F238E27FC236}">
                  <a16:creationId xmlns:a16="http://schemas.microsoft.com/office/drawing/2014/main" id="{55F7A787-5D18-5C6F-7B1C-AC7352A4E850}"/>
                </a:ext>
              </a:extLst>
            </p:cNvPr>
            <p:cNvSpPr/>
            <p:nvPr/>
          </p:nvSpPr>
          <p:spPr>
            <a:xfrm>
              <a:off x="0" y="3808320"/>
              <a:ext cx="7833208" cy="2547440"/>
            </a:xfrm>
            <a:custGeom>
              <a:avLst/>
              <a:gdLst/>
              <a:ahLst/>
              <a:cxnLst/>
              <a:rect l="l" t="t" r="r" b="b"/>
              <a:pathLst>
                <a:path w="7833208" h="2547440" extrusionOk="0">
                  <a:moveTo>
                    <a:pt x="0" y="0"/>
                  </a:moveTo>
                  <a:lnTo>
                    <a:pt x="7833208" y="0"/>
                  </a:lnTo>
                  <a:lnTo>
                    <a:pt x="7135846" y="2547440"/>
                  </a:lnTo>
                  <a:lnTo>
                    <a:pt x="0" y="254744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" name="Google Shape;157;p1">
              <a:extLst>
                <a:ext uri="{FF2B5EF4-FFF2-40B4-BE49-F238E27FC236}">
                  <a16:creationId xmlns:a16="http://schemas.microsoft.com/office/drawing/2014/main" id="{6D502ADF-1E12-7F01-9829-1E1D7F0E10FA}"/>
                </a:ext>
              </a:extLst>
            </p:cNvPr>
            <p:cNvSpPr/>
            <p:nvPr/>
          </p:nvSpPr>
          <p:spPr>
            <a:xfrm>
              <a:off x="0" y="3808320"/>
              <a:ext cx="7692302" cy="2547440"/>
            </a:xfrm>
            <a:custGeom>
              <a:avLst/>
              <a:gdLst/>
              <a:ahLst/>
              <a:cxnLst/>
              <a:rect l="l" t="t" r="r" b="b"/>
              <a:pathLst>
                <a:path w="7692571" h="2547440" extrusionOk="0">
                  <a:moveTo>
                    <a:pt x="0" y="0"/>
                  </a:moveTo>
                  <a:lnTo>
                    <a:pt x="7692571" y="0"/>
                  </a:lnTo>
                  <a:lnTo>
                    <a:pt x="6995209" y="2547440"/>
                  </a:lnTo>
                  <a:lnTo>
                    <a:pt x="0" y="254744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D0505">
                    <a:shade val="30000"/>
                    <a:satMod val="115000"/>
                  </a:srgbClr>
                </a:gs>
                <a:gs pos="50000">
                  <a:srgbClr val="9D0505">
                    <a:shade val="67500"/>
                    <a:satMod val="115000"/>
                  </a:srgbClr>
                </a:gs>
                <a:gs pos="100000">
                  <a:srgbClr val="9D0505">
                    <a:shade val="100000"/>
                    <a:satMod val="115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>
              <a:softEdge rad="31750"/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9" name="Google Shape;164;p1" descr="title">
            <a:extLst>
              <a:ext uri="{FF2B5EF4-FFF2-40B4-BE49-F238E27FC236}">
                <a16:creationId xmlns:a16="http://schemas.microsoft.com/office/drawing/2014/main" id="{B14123EB-5C92-737D-C4C2-49225D825D5F}"/>
              </a:ext>
            </a:extLst>
          </p:cNvPr>
          <p:cNvSpPr txBox="1"/>
          <p:nvPr/>
        </p:nvSpPr>
        <p:spPr>
          <a:xfrm>
            <a:off x="6191479" y="2735700"/>
            <a:ext cx="5519451" cy="224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AUTOMATIC IDENTIFICATION OF MUSICAL INSTRUMENTS</a:t>
            </a:r>
            <a:endParaRPr lang="en-US" sz="2800" b="1" i="1" dirty="0">
              <a:solidFill>
                <a:schemeClr val="bg1"/>
              </a:solidFill>
              <a:effectLst/>
              <a:latin typeface="Corbel"/>
              <a:ea typeface="Times New Roman" panose="02020603050405020304" pitchFamily="18" charset="0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1" i="1" dirty="0">
                <a:solidFill>
                  <a:schemeClr val="bg1"/>
                </a:solidFill>
                <a:latin typeface="Corbel"/>
                <a:sym typeface="Corbel"/>
              </a:rPr>
              <a:t>       </a:t>
            </a:r>
            <a:r>
              <a:rPr lang="en-US" sz="1600" dirty="0">
                <a:solidFill>
                  <a:schemeClr val="bg1"/>
                </a:solidFill>
              </a:rPr>
              <a:t>Student: Volodymyr Kuz</a:t>
            </a:r>
            <a:endParaRPr lang="uk-UA" sz="1600" dirty="0">
              <a:solidFill>
                <a:schemeClr val="bg1"/>
              </a:solidFill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bg1"/>
                </a:solidFill>
              </a:rPr>
              <a:t>Scientific Supervisor: Dr. Andrii </a:t>
            </a:r>
            <a:r>
              <a:rPr lang="en-US" sz="1600" dirty="0" err="1">
                <a:solidFill>
                  <a:schemeClr val="bg1"/>
                </a:solidFill>
              </a:rPr>
              <a:t>Shatyrko</a:t>
            </a:r>
            <a:r>
              <a:rPr lang="en-US" sz="1600" dirty="0">
                <a:solidFill>
                  <a:schemeClr val="bg1"/>
                </a:solidFill>
              </a:rPr>
              <a:t>, Associate Professor, DSc in Physics and Mathematics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i="1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              </a:t>
            </a:r>
            <a:r>
              <a:rPr lang="en-US" sz="1800" dirty="0" err="1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Taras</a:t>
            </a:r>
            <a:r>
              <a:rPr lang="en-US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Shevchenko National University of Kyiv</a:t>
            </a:r>
            <a:br>
              <a:rPr lang="en-US" sz="2800" i="1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2800" i="1" dirty="0">
              <a:solidFill>
                <a:schemeClr val="bg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436557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142B5-7C5E-4501-8DB6-3EBA5C19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lang="uk-UA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3DD469B-B8BD-4163-BA92-BEBEF242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76400"/>
            <a:ext cx="8915400" cy="3777622"/>
          </a:xfrm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goal of this study was to investigate whether traditional spectral analysis methods combined with machine learning can achieve reliable classification of musical instruments.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We expected that even with simple models, careful feature extraction would lead to high accuracy in recognizing solo instruments — which is important for music classification, retrieval, and automatic annotation.</a:t>
            </a:r>
            <a:endParaRPr lang="uk-UA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Given a musical piece, it is required to develop a program that can classify the musical instruments present in it.</a:t>
            </a:r>
            <a:endParaRPr lang="uk-UA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13819-C2D8-4D5E-8972-16802E01CDBC}"/>
              </a:ext>
            </a:extLst>
          </p:cNvPr>
          <p:cNvSpPr txBox="1"/>
          <p:nvPr/>
        </p:nvSpPr>
        <p:spPr>
          <a:xfrm>
            <a:off x="3549528" y="6581001"/>
            <a:ext cx="5092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Dynamical System Modeling and Stability Investigation, DSMSI-202</a:t>
            </a:r>
            <a:r>
              <a:rPr lang="uk-UA" sz="1200" b="1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5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43799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Dataset and Preprocessing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335741"/>
                <a:ext cx="8915400" cy="525331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We started by preparing a dataset of short audio clips. Each recording contains only one musical instrument — cello, saxophone, violin, flute, trumpet, oboe.</a:t>
                </a:r>
                <a:b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b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We then applied signal preprocessing techniques using the Fast Fourier Transform (FFT), and from each audio file we extracted a set of spectral features, including:</a:t>
                </a:r>
                <a:b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Spectral centroid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sz="1800" i="1" smtClean="0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k-UA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uk-UA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uk-UA" sz="1800" i="1">
                        <a:effectLst/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uk-UA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grow m:val="on"/>
                            <m:supHide m:val="on"/>
                            <m:ctrlP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uk-UA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uk-UA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uk-UA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uk-UA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grow m:val="on"/>
                            <m:supHide m:val="on"/>
                            <m:ctrlP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uk-UA" sz="1800" i="1">
                                <a:effectLst/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uk-UA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uk-UA" sz="1800" i="1"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b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Spectral bandwidth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𝑆</m:t>
                    </m:r>
                    <m:sSub>
                      <m:sSubPr>
                        <m:ctrlPr>
                          <a:rPr lang="uk-UA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ru-RU" sz="1400" i="1">
                        <a:latin typeface="Cambria Math" panose="02040503050406030204" pitchFamily="18" charset="0"/>
                        <a:ea typeface="Yu Mincho" panose="02020400000000000000" pitchFamily="18" charset="-128"/>
                        <a:cs typeface="Times New Roman" panose="02020603050405020304" pitchFamily="18" charset="0"/>
                      </a:rPr>
                      <m:t>=(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uk-UA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ru-RU" sz="1400" i="1"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uk-UA" sz="1400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uk-UA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sSub>
                                  <m:sSubPr>
                                    <m:ctrlPr>
                                      <a:rPr lang="uk-UA" sz="1400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ru-RU" sz="1400" i="1">
                                <a:latin typeface="Cambria Math" panose="02040503050406030204" pitchFamily="18" charset="0"/>
                                <a:ea typeface="Yu Mincho" panose="02020400000000000000" pitchFamily="18" charset="-128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uk-UA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den>
                            </m:f>
                          </m:sup>
                        </m:sSup>
                      </m:e>
                    </m:nary>
                  </m:oMath>
                </a14:m>
                <a:b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Zero-crossing rate </a:t>
                </a:r>
                <a14:m>
                  <m:oMath xmlns:m="http://schemas.openxmlformats.org/officeDocument/2006/math">
                    <m:r>
                      <a:rPr lang="uk-UA" sz="1600" i="1">
                        <a:latin typeface="Cambria Math" panose="02040503050406030204" pitchFamily="18" charset="0"/>
                      </a:rPr>
                      <m:t>𝑍𝐶𝑅</m:t>
                    </m:r>
                    <m:r>
                      <a:rPr lang="uk-UA" sz="1600" i="1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uk-UA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uk-UA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𝐼𝐼</m:t>
                        </m:r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uk-U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uk-UA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uk-UA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uk-UA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uk-UA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uk-UA" sz="1600" i="1">
                            <a:latin typeface="Cambria Math" panose="02040503050406030204" pitchFamily="18" charset="0"/>
                          </a:rPr>
                          <m:t>&lt;0}</m:t>
                        </m:r>
                      </m:e>
                    </m:nary>
                  </m:oMath>
                </a14:m>
                <a:b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Spectral contrast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𝑃𝑒𝑎</m:t>
                    </m:r>
                    <m:sSub>
                      <m:sSubPr>
                        <m:ctrlPr>
                          <a:rPr lang="uk-U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uk-U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uk-UA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uk-UA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uk-U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uk-U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𝑉𝑎𝑙𝑙𝑒𝑦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uk-UA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uk-U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uk-U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uk-UA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uk-U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func>
                  </m:oMath>
                </a14:m>
                <a:r>
                  <a:rPr lang="en-US" dirty="0"/>
                  <a:t>, </a:t>
                </a:r>
                <a:endParaRPr lang="en-US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uk-U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𝑃𝑒𝑎</m:t>
                    </m:r>
                    <m:sSub>
                      <m:sSubPr>
                        <m:ctrlPr>
                          <a:rPr lang="uk-U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𝑉𝑎𝑙𝑙𝑒</m:t>
                    </m:r>
                    <m:sSub>
                      <m:sSubPr>
                        <m:ctrlPr>
                          <a:rPr lang="uk-U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b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</a:br>
                <a:r>
                  <a:rPr lang="en-US" sz="1800" dirty="0"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- Mel-frequency cepstral coefficients (MFCCs)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335741"/>
                <a:ext cx="8915400" cy="5253318"/>
              </a:xfrm>
              <a:blipFill>
                <a:blip r:embed="rId2"/>
                <a:stretch>
                  <a:fillRect l="-47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11">
            <a:extLst>
              <a:ext uri="{FF2B5EF4-FFF2-40B4-BE49-F238E27FC236}">
                <a16:creationId xmlns:a16="http://schemas.microsoft.com/office/drawing/2014/main" id="{7D67FDA3-7E6E-4CBE-B66D-CB6A07F8B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006" y="1361873"/>
            <a:ext cx="8672448" cy="40901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D10498-1D7F-4AFA-ABA5-01CDF56F5E94}"/>
              </a:ext>
            </a:extLst>
          </p:cNvPr>
          <p:cNvSpPr txBox="1"/>
          <p:nvPr/>
        </p:nvSpPr>
        <p:spPr>
          <a:xfrm>
            <a:off x="6290557" y="5656730"/>
            <a:ext cx="237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Figure: 1 Spectrogram</a:t>
            </a:r>
            <a:endParaRPr lang="uk-UA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147D29-6DBD-4AD1-A9FD-955C2BA1F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936" y="800910"/>
            <a:ext cx="8681316" cy="52010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5D2542-1EDC-4FC2-BFEE-3B0CD95A0FF0}"/>
              </a:ext>
            </a:extLst>
          </p:cNvPr>
          <p:cNvSpPr txBox="1"/>
          <p:nvPr/>
        </p:nvSpPr>
        <p:spPr>
          <a:xfrm>
            <a:off x="5981001" y="6075019"/>
            <a:ext cx="3399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Figure: 2 Spectral characteristics</a:t>
            </a:r>
            <a:endParaRPr lang="uk-UA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43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Models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After extracting all the spectral features necessary for training the model, we face the final—and perhaps the most interesting and challenging—task: applying a machine learning algorithm to train the model using a dataset of musical pieces.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1E526E-00BD-466F-B72D-0D5CB2B3075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957" y="2821078"/>
            <a:ext cx="7208252" cy="2782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8F43A8-9049-4921-81D8-CC655D32B939}"/>
              </a:ext>
            </a:extLst>
          </p:cNvPr>
          <p:cNvSpPr txBox="1"/>
          <p:nvPr/>
        </p:nvSpPr>
        <p:spPr>
          <a:xfrm flipH="1">
            <a:off x="4783118" y="5791200"/>
            <a:ext cx="3410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Figure: 3 Algorithms comparison</a:t>
            </a:r>
            <a:endParaRPr lang="uk-UA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94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4342" y="1147482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Approximate Nearest Neighbor (ANN)</a:t>
            </a:r>
          </a:p>
          <a:p>
            <a:pPr marL="0" indent="0">
              <a:buNone/>
            </a:pP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approximate nearest neighbor algorithm returns data points whose distance from the query point does not exceed more than a factor of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compared to the distance to the exact nearest neighbors.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strength of this approach lies in the fact that, in many practical cases, an approximate nearest neighbor is almost as effective as an exact one.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particular, when the distance metric accurately reflects the user's notion of similarity or quality, small differences in distance become negligible.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3">
            <a:extLst>
              <a:ext uri="{FF2B5EF4-FFF2-40B4-BE49-F238E27FC236}">
                <a16:creationId xmlns:a16="http://schemas.microsoft.com/office/drawing/2014/main" id="{7F4435AC-5AC2-4530-A6A4-B529622BD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1341" y="284009"/>
            <a:ext cx="6896642" cy="60389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5AC9D4-21AD-4A89-AD7D-11479546E4CD}"/>
              </a:ext>
            </a:extLst>
          </p:cNvPr>
          <p:cNvSpPr txBox="1"/>
          <p:nvPr/>
        </p:nvSpPr>
        <p:spPr>
          <a:xfrm>
            <a:off x="6012438" y="6322978"/>
            <a:ext cx="2194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Figure: 4 ANN result</a:t>
            </a:r>
            <a:endParaRPr lang="uk-UA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637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83659" y="1075764"/>
                <a:ext cx="8915400" cy="377762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Support Vector Machine (SVM)</a:t>
                </a:r>
                <a:endParaRPr lang="uk-UA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SVM is a supervised learning method that defines decision boundaries for classification.</a:t>
                </a:r>
                <a:b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Among the data points belonging to each class, those closest to the decision boundary are called 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support vectors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b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total distance between the support vectors and the decision boundary is known as the 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margin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ru-RU" sz="1800" dirty="0">
                    <a:effectLst/>
                    <a:ea typeface="Yu Mincho" panose="02020400000000000000" pitchFamily="18" charset="-128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uk-UA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Yu Mincho" panose="02020400000000000000" pitchFamily="18" charset="-128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ru-RU" sz="1800" dirty="0">
                    <a:effectLst/>
                    <a:ea typeface="Yu Mincho" panose="02020400000000000000" pitchFamily="18" charset="-128"/>
                    <a:cs typeface="Times New Roman" panose="02020603050405020304" pitchFamily="18" charset="0"/>
                  </a:rPr>
                  <a:t>). </a:t>
                </a:r>
                <a:b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SVM aims to find the classification boundary that 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maximizes this margin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thereby achieving better generalization.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𝑜𝑏𝑗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) =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𝑚𝑎𝑥</m:t>
                      </m:r>
                      <m:f>
                        <m:f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uk-UA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uk-UA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𝑚𝑖𝑛</m:t>
                      </m:r>
                      <m:f>
                        <m:f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uk-UA" sz="1800" i="1"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uk-UA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2 </m:t>
                          </m:r>
                        </m:sup>
                      </m:sSub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          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𝑠𝑢𝑏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uk-UA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Yu Mincho" panose="02020400000000000000" pitchFamily="18" charset="-128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m:t>)≥1</m:t>
                      </m:r>
                    </m:oMath>
                  </m:oMathPara>
                </a14:m>
                <a:endParaRPr lang="uk-UA" sz="1800" dirty="0">
                  <a:effectLst/>
                  <a:ea typeface="Yu Mincho" panose="02020400000000000000" pitchFamily="18" charset="-128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3659" y="1075764"/>
                <a:ext cx="8915400" cy="3777622"/>
              </a:xfrm>
              <a:blipFill>
                <a:blip r:embed="rId2"/>
                <a:stretch>
                  <a:fillRect l="-547" t="-968" r="-47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268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3">
            <a:extLst>
              <a:ext uri="{FF2B5EF4-FFF2-40B4-BE49-F238E27FC236}">
                <a16:creationId xmlns:a16="http://schemas.microsoft.com/office/drawing/2014/main" id="{BCFF8E61-17B8-49B7-AF7F-E1175A4A5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427" y="94039"/>
            <a:ext cx="7384041" cy="62870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BBA5F6-613F-484B-BBE8-83BABDFEAA9D}"/>
              </a:ext>
            </a:extLst>
          </p:cNvPr>
          <p:cNvSpPr txBox="1"/>
          <p:nvPr/>
        </p:nvSpPr>
        <p:spPr>
          <a:xfrm>
            <a:off x="6297290" y="6429689"/>
            <a:ext cx="217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Figure: 5 SVM result</a:t>
            </a:r>
          </a:p>
        </p:txBody>
      </p:sp>
    </p:spTree>
    <p:extLst>
      <p:ext uri="{BB962C8B-B14F-4D97-AF65-F5344CB8AC3E}">
        <p14:creationId xmlns:p14="http://schemas.microsoft.com/office/powerpoint/2010/main" val="129130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ANN accuracy: 9</a:t>
            </a:r>
            <a:r>
              <a:rPr lang="en-US" dirty="0"/>
              <a:t>7.5</a:t>
            </a:r>
            <a:r>
              <a:rPr dirty="0"/>
              <a:t>%</a:t>
            </a:r>
          </a:p>
          <a:p>
            <a:r>
              <a:rPr dirty="0"/>
              <a:t>SVM accuracy: 9</a:t>
            </a:r>
            <a:r>
              <a:rPr lang="en-US" dirty="0"/>
              <a:t>7</a:t>
            </a:r>
            <a:r>
              <a:rPr dirty="0"/>
              <a:t>%</a:t>
            </a:r>
          </a:p>
          <a:p>
            <a:r>
              <a:rPr dirty="0"/>
              <a:t>Model choice not critical – both performed well</a:t>
            </a:r>
          </a:p>
          <a:p>
            <a:r>
              <a:rPr dirty="0"/>
              <a:t>Feature quality was key to high accuracy</a:t>
            </a:r>
          </a:p>
        </p:txBody>
      </p:sp>
    </p:spTree>
    <p:extLst>
      <p:ext uri="{BB962C8B-B14F-4D97-AF65-F5344CB8AC3E}">
        <p14:creationId xmlns:p14="http://schemas.microsoft.com/office/powerpoint/2010/main" val="207925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Discussion and Future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Based on this foundation, we can now move toward more complex applications.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Apply pipeline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to the recognition of military vehicles and equipment from battlefield audio.</a:t>
            </a:r>
            <a:endParaRPr lang="uk-UA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Of course, this introduces many new challenges:</a:t>
            </a:r>
            <a:b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High levels of noise</a:t>
            </a:r>
            <a:b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Low-quality or corrupted recordings</a:t>
            </a:r>
            <a:b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 Very limited training datasets</a:t>
            </a:r>
          </a:p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Needs: source separation, noise filtering, data augmentation</a:t>
            </a: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Potential for defense and military applications</a:t>
            </a:r>
            <a:r>
              <a:rPr lang="uk-UA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C50DC-5588-45DC-9C5D-BFC3FB5B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096" y="2759148"/>
            <a:ext cx="6456184" cy="669852"/>
          </a:xfrm>
        </p:spPr>
        <p:txBody>
          <a:bodyPr/>
          <a:lstStyle/>
          <a:p>
            <a:pPr algn="ctr"/>
            <a:r>
              <a:rPr lang="en-US" dirty="0"/>
              <a:t>Thank you for your attention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85925624"/>
      </p:ext>
    </p:extLst>
  </p:cSld>
  <p:clrMapOvr>
    <a:masterClrMapping/>
  </p:clrMapOvr>
</p:sld>
</file>

<file path=ppt/theme/theme1.xml><?xml version="1.0" encoding="utf-8"?>
<a:theme xmlns:a="http://schemas.openxmlformats.org/drawingml/2006/main" name="Віхоть">
  <a:themeElements>
    <a:clrScheme name="Віхоть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Віхоть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іхоть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7C3E52-A0B1-49C0-88BD-66B715EE8B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B8F5F2-61AB-4CE6-A5E3-F34B87B0EE4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575CB40-8686-4C48-810A-C2974D3D3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105</TotalTime>
  <Words>646</Words>
  <Application>Microsoft Office PowerPoint</Application>
  <PresentationFormat>Widescreen</PresentationFormat>
  <Paragraphs>39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Book Antiqua</vt:lpstr>
      <vt:lpstr>Calibri</vt:lpstr>
      <vt:lpstr>Cambria</vt:lpstr>
      <vt:lpstr>Cambria Math</vt:lpstr>
      <vt:lpstr>Century Gothic</vt:lpstr>
      <vt:lpstr>Corbel</vt:lpstr>
      <vt:lpstr>Wingdings 3</vt:lpstr>
      <vt:lpstr>Віхоть</vt:lpstr>
      <vt:lpstr>Dynamical System Modeling and Stability Investigation DSMSI-2025</vt:lpstr>
      <vt:lpstr>Introduction</vt:lpstr>
      <vt:lpstr>Dataset and Preprocessing</vt:lpstr>
      <vt:lpstr>PowerPoint Presentation</vt:lpstr>
      <vt:lpstr>PowerPoint Presentation</vt:lpstr>
      <vt:lpstr>Models and Training</vt:lpstr>
      <vt:lpstr>PowerPoint Presentation</vt:lpstr>
      <vt:lpstr>PowerPoint Presentation</vt:lpstr>
      <vt:lpstr>PowerPoint Presentation</vt:lpstr>
      <vt:lpstr>PowerPoint Presentation</vt:lpstr>
      <vt:lpstr>Results and Comparison</vt:lpstr>
      <vt:lpstr>Discussion and Future Extension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 події, дизайн "Віхоть"</dc:title>
  <dc:creator>Volodymyr Petrivskyi</dc:creator>
  <cp:lastModifiedBy>Volodymyr Kuz</cp:lastModifiedBy>
  <cp:revision>21</cp:revision>
  <dcterms:created xsi:type="dcterms:W3CDTF">2023-12-10T12:00:44Z</dcterms:created>
  <dcterms:modified xsi:type="dcterms:W3CDTF">2025-05-04T20:35:24Z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